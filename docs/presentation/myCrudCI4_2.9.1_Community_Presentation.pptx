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myCrudCI4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67512" y="135331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</a:rPr>
              <a:t>CRUD &amp; Application Scaffolding Generator for CodeIgniter 4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85800" y="203911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Stable release 2.9.1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2542032"/>
            <a:ext cx="3063240" cy="283464"/>
          </a:xfrm>
          <a:prstGeom prst="roundRect">
            <a:avLst>
              <a:gd name="adj" fmla="val 25806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2615184"/>
            <a:ext cx="2898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schema → builder → staging → publish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685800" y="2926080"/>
            <a:ext cx="2331720" cy="283464"/>
          </a:xfrm>
          <a:prstGeom prst="roundRect">
            <a:avLst>
              <a:gd name="adj" fmla="val 25806"/>
            </a:avLst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2999232"/>
            <a:ext cx="2167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Basic • Standard • Full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5303520" y="621792"/>
            <a:ext cx="6172200" cy="5440680"/>
          </a:xfrm>
          <a:prstGeom prst="roundRect">
            <a:avLst>
              <a:gd name="adj" fmla="val 134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3000"/>
              </a:srgbClr>
            </a:outerShdw>
          </a:effectLst>
        </p:spPr>
      </p:sp>
      <p:pic>
        <p:nvPicPr>
          <p:cNvPr id="10" name="Image 0" descr="/mnt/data/Screenshot 2026-08-19 at 11-30-29 Project Dashboard.png">    </p:cNvPr>
          <p:cNvPicPr>
            <a:picLocks noChangeAspect="1"/>
          </p:cNvPicPr>
          <p:nvPr/>
        </p:nvPicPr>
        <p:blipFill>
          <a:blip r:embed="rId1"/>
          <a:srcRect l="4000" r="45603" t="2000" b="6000"/>
          <a:stretch/>
        </p:blipFill>
        <p:spPr>
          <a:xfrm>
            <a:off x="5349240" y="667512"/>
            <a:ext cx="6080760" cy="53492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85800" y="53035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</a:rPr>
              <a:t>Generate readable CI4 code from a real database schema, inspect it, then publish it when ready.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85800" y="62636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</a:rPr>
              <a:t>github.com/maxgamb/myCrudCI4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287000" y="164592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myCrudCI4 2.9.1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0292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myCrudCI4?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3504" y="1042416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practical workflow for CI4 projects that start from an existing database.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85800" y="1783080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5256" y="1691640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Turns database tables and views into configured CRUD resources.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85800" y="2395728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05256" y="2304288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Keeps generated code readable: Models, Controllers, Views, Rules, Services and APIs.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85800" y="3008376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56" y="2916936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Writes first to app/Generated so developers can review before publishing.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85800" y="3621024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5256" y="3529584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Supports real relationships, navigation, exports, uploads, APIs and dashboards.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806440" y="1417320"/>
            <a:ext cx="5440680" cy="4315968"/>
          </a:xfrm>
          <a:prstGeom prst="roundRect">
            <a:avLst>
              <a:gd name="adj" fmla="val 169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3000"/>
              </a:srgbClr>
            </a:outerShdw>
          </a:effectLst>
        </p:spPr>
      </p:sp>
      <p:pic>
        <p:nvPicPr>
          <p:cNvPr id="14" name="Image 0" descr="/mnt/data/Screenshot 2026-08-19 at 11-30-49 myCrudCI4.png">    </p:cNvPr>
          <p:cNvPicPr>
            <a:picLocks noChangeAspect="1"/>
          </p:cNvPicPr>
          <p:nvPr/>
        </p:nvPicPr>
        <p:blipFill>
          <a:blip r:embed="rId1"/>
          <a:srcRect l="8000" r="12328" t="5000" b="7000"/>
          <a:stretch/>
        </p:blipFill>
        <p:spPr>
          <a:xfrm>
            <a:off x="5843016" y="1453896"/>
            <a:ext cx="5367528" cy="424281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49808" y="544068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23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749808" y="587959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Sakila tables detected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2286000" y="544068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59669"/>
                </a:solidFill>
              </a:rPr>
              <a:t>3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2286000" y="587959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Architectures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822192" y="544068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</a:rPr>
              <a:t>1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3822192" y="587959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Review staging area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94360" y="6473952"/>
            <a:ext cx="1100023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94360" y="65379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B7280"/>
                </a:solidFill>
              </a:rPr>
              <a:t>myCrudCI4 • Community preview • 2</a:t>
            </a:r>
            <a:endParaRPr lang="en-US" sz="7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287000" y="164592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myCrudCI4 2.9.1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0292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Install, configure, generate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3504" y="1042416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stable GitHub release can be cloned and tested like a normal CodeIgniter 4 project.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85800" y="1508760"/>
            <a:ext cx="5349240" cy="2926080"/>
          </a:xfrm>
          <a:prstGeom prst="roundRect">
            <a:avLst>
              <a:gd name="adj" fmla="val 187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783080"/>
            <a:ext cx="4800600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--branch v2.9.1 --depth 1 https://github.com/maxgamb/myCrudCI4.git myCrudCI4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myCrudCI4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composer install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 env .env   # configure database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 spark serve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http://localhost:8080/index.php/mycrud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537960" y="17190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57416" y="162763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F2937"/>
                </a:solidFill>
              </a:rPr>
              <a:t>Configure the DB in .env.</a:t>
            </a:r>
            <a:endParaRPr lang="en-US" sz="1420" dirty="0"/>
          </a:p>
        </p:txBody>
      </p:sp>
      <p:sp>
        <p:nvSpPr>
          <p:cNvPr id="9" name="Shape 7"/>
          <p:cNvSpPr/>
          <p:nvPr/>
        </p:nvSpPr>
        <p:spPr>
          <a:xfrm>
            <a:off x="6537960" y="226771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57416" y="217627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F2937"/>
                </a:solidFill>
              </a:rPr>
              <a:t>Open the myCrudCI4 interface.</a:t>
            </a:r>
            <a:endParaRPr lang="en-US" sz="1420" dirty="0"/>
          </a:p>
        </p:txBody>
      </p:sp>
      <p:sp>
        <p:nvSpPr>
          <p:cNvPr id="11" name="Shape 9"/>
          <p:cNvSpPr/>
          <p:nvPr/>
        </p:nvSpPr>
        <p:spPr>
          <a:xfrm>
            <a:off x="6537960" y="281635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57416" y="272491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F2937"/>
                </a:solidFill>
              </a:rPr>
              <a:t>Use Quick Global for initial setup.</a:t>
            </a:r>
            <a:endParaRPr lang="en-US" sz="1420" dirty="0"/>
          </a:p>
        </p:txBody>
      </p:sp>
      <p:sp>
        <p:nvSpPr>
          <p:cNvPr id="13" name="Shape 11"/>
          <p:cNvSpPr/>
          <p:nvPr/>
        </p:nvSpPr>
        <p:spPr>
          <a:xfrm>
            <a:off x="6537960" y="336499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57416" y="327355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F2937"/>
                </a:solidFill>
              </a:rPr>
              <a:t>Use Builder for detailed customization.</a:t>
            </a:r>
            <a:endParaRPr lang="en-US" sz="1420" dirty="0"/>
          </a:p>
        </p:txBody>
      </p:sp>
      <p:sp>
        <p:nvSpPr>
          <p:cNvPr id="15" name="Shape 13"/>
          <p:cNvSpPr/>
          <p:nvPr/>
        </p:nvSpPr>
        <p:spPr>
          <a:xfrm>
            <a:off x="6537960" y="391363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57416" y="382219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1F2937"/>
                </a:solidFill>
              </a:rPr>
              <a:t>Generate to staging, then publish.</a:t>
            </a:r>
            <a:endParaRPr lang="en-US" sz="1420" dirty="0"/>
          </a:p>
        </p:txBody>
      </p:sp>
      <p:sp>
        <p:nvSpPr>
          <p:cNvPr id="17" name="Shape 15"/>
          <p:cNvSpPr/>
          <p:nvPr/>
        </p:nvSpPr>
        <p:spPr>
          <a:xfrm>
            <a:off x="6492240" y="4572000"/>
            <a:ext cx="45262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3000"/>
              </a:srgbClr>
            </a:outerShdw>
          </a:effectLst>
        </p:spPr>
      </p:sp>
      <p:pic>
        <p:nvPicPr>
          <p:cNvPr id="18" name="Image 0" descr="/mnt/data/Screenshot 2026-08-19 at 11-30-49 myCrudCI4.png">    </p:cNvPr>
          <p:cNvPicPr>
            <a:picLocks noChangeAspect="1"/>
          </p:cNvPicPr>
          <p:nvPr/>
        </p:nvPicPr>
        <p:blipFill>
          <a:blip r:embed="rId1"/>
          <a:srcRect l="5000" r="-5888" t="0" b="56000"/>
          <a:stretch/>
        </p:blipFill>
        <p:spPr>
          <a:xfrm>
            <a:off x="6528816" y="4608576"/>
            <a:ext cx="4453128" cy="1389888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594360" y="6473952"/>
            <a:ext cx="1100023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" y="65379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B7280"/>
                </a:solidFill>
              </a:rPr>
              <a:t>myCrudCI4 • Community preview • 3</a:t>
            </a:r>
            <a:endParaRPr lang="en-US" sz="7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287000" y="164592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myCrudCI4 2.9.1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0292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Dashboard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3504" y="1042416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single overview of database objects, configured CRUDs and operational status.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1092708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3000"/>
              </a:srgbClr>
            </a:outerShdw>
          </a:effectLst>
        </p:spPr>
      </p:sp>
      <p:pic>
        <p:nvPicPr>
          <p:cNvPr id="6" name="Image 0" descr="/mnt/data/Screenshot 2026-08-19 at 11-30-29 Project Dashboard.png">    </p:cNvPr>
          <p:cNvPicPr>
            <a:picLocks noChangeAspect="1"/>
          </p:cNvPicPr>
          <p:nvPr/>
        </p:nvPicPr>
        <p:blipFill>
          <a:blip r:embed="rId1"/>
          <a:srcRect l="3000" r="-9212" t="0" b="17000"/>
          <a:stretch/>
        </p:blipFill>
        <p:spPr>
          <a:xfrm>
            <a:off x="722376" y="1453896"/>
            <a:ext cx="10853928" cy="40873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571500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DB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68680" y="6153912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schema-aware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2148840" y="571500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59669"/>
                </a:solidFill>
              </a:rPr>
              <a:t>Generate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2148840" y="615391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all configured CRUDs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023360" y="57150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</a:rPr>
              <a:t>Search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4023360" y="615391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project tables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623560" y="57150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</a:rPr>
              <a:t>Status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5623560" y="615391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saved / operational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452360" y="57150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59669"/>
                </a:solidFill>
              </a:rPr>
              <a:t>Actions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7452360" y="615391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configure / inspect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94360" y="6473952"/>
            <a:ext cx="1100023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4360" y="65379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B7280"/>
                </a:solidFill>
              </a:rPr>
              <a:t>myCrudCI4 • Community preview • 4</a:t>
            </a:r>
            <a:endParaRPr lang="en-US" sz="7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287000" y="164592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myCrudCI4 2.9.1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0292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Quick Global: start from the database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3504" y="1042416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tables, detect views, and create persistent configurations fast.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85800" y="1508760"/>
            <a:ext cx="498348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3000"/>
              </a:srgbClr>
            </a:outerShdw>
          </a:effectLst>
        </p:spPr>
      </p:sp>
      <p:pic>
        <p:nvPicPr>
          <p:cNvPr id="6" name="Image 0" descr="/mnt/data/Screenshot 2026-08-19 at 11-30-49 myCrudCI4.png">    </p:cNvPr>
          <p:cNvPicPr>
            <a:picLocks noChangeAspect="1"/>
          </p:cNvPicPr>
          <p:nvPr/>
        </p:nvPicPr>
        <p:blipFill>
          <a:blip r:embed="rId1"/>
          <a:srcRect l="10000" r="10111" t="0" b="5000"/>
          <a:stretch/>
        </p:blipFill>
        <p:spPr>
          <a:xfrm>
            <a:off x="722376" y="1545336"/>
            <a:ext cx="4910328" cy="41788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172200" y="1508760"/>
            <a:ext cx="2194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DATABASE OBJECTS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6172200" y="1965960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91656" y="1874520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Tables and SQL views are listed side by side.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172200" y="2624328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91656" y="2532888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Read-only resources are recognized by the schema.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172200" y="3282696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91656" y="3191256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Configuration is saved into app/MyCrudConfig/.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172200" y="3941064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91656" y="3849624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The release itself remains clean until the user configures a project.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172200" y="5074920"/>
            <a:ext cx="4526280" cy="621792"/>
          </a:xfrm>
          <a:prstGeom prst="roundRect">
            <a:avLst>
              <a:gd name="adj" fmla="val 8824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5248656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E40AF"/>
                </a:solidFill>
              </a:rPr>
              <a:t>Quick Global is the fastest path from schema discovery to a first generated application.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94360" y="6473952"/>
            <a:ext cx="1100023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65379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B7280"/>
                </a:solidFill>
              </a:rPr>
              <a:t>myCrudCI4 • Community preview • 5</a:t>
            </a:r>
            <a:endParaRPr lang="en-US" sz="7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287000" y="164592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myCrudCI4 2.9.1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0292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Builder: customize architecture and fields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3504" y="1042416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Basic, Standard or Full, then tune how every field behaves.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85800" y="1572768"/>
            <a:ext cx="52578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3000"/>
              </a:srgbClr>
            </a:outerShdw>
          </a:effectLst>
        </p:spPr>
      </p:sp>
      <p:pic>
        <p:nvPicPr>
          <p:cNvPr id="6" name="Image 0" descr="/mnt/data/Screenshot 2026-08-19 at 11-33-59 Configure film.png">    </p:cNvPr>
          <p:cNvPicPr>
            <a:picLocks noChangeAspect="1"/>
          </p:cNvPicPr>
          <p:nvPr/>
        </p:nvPicPr>
        <p:blipFill>
          <a:blip r:embed="rId1"/>
          <a:srcRect l="18000" r="16710" t="14000" b="34000"/>
          <a:stretch/>
        </p:blipFill>
        <p:spPr>
          <a:xfrm>
            <a:off x="717804" y="1604772"/>
            <a:ext cx="5193792" cy="19933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63640" y="1572768"/>
            <a:ext cx="52578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3000"/>
              </a:srgbClr>
            </a:outerShdw>
          </a:effectLst>
        </p:spPr>
      </p:sp>
      <p:pic>
        <p:nvPicPr>
          <p:cNvPr id="8" name="Image 1" descr="/mnt/data/Screenshot 2026-08-19 at 11-34-22 Configure film.png">    </p:cNvPr>
          <p:cNvPicPr>
            <a:picLocks noChangeAspect="1"/>
          </p:cNvPicPr>
          <p:nvPr/>
        </p:nvPicPr>
        <p:blipFill>
          <a:blip r:embed="rId2"/>
          <a:srcRect l="16000" r="18710" t="16000" b="32000"/>
          <a:stretch/>
        </p:blipFill>
        <p:spPr>
          <a:xfrm>
            <a:off x="6295644" y="1604772"/>
            <a:ext cx="5193792" cy="199339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914400" y="4251960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133856" y="4160520"/>
            <a:ext cx="10149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1F2937"/>
                </a:solidFill>
              </a:rPr>
              <a:t>Full architecture adds REST API, resources, API validation and OpenAPI.</a:t>
            </a:r>
            <a:endParaRPr lang="en-US" sz="1380" dirty="0"/>
          </a:p>
        </p:txBody>
      </p:sp>
      <p:sp>
        <p:nvSpPr>
          <p:cNvPr id="11" name="Shape 7"/>
          <p:cNvSpPr/>
          <p:nvPr/>
        </p:nvSpPr>
        <p:spPr>
          <a:xfrm>
            <a:off x="914400" y="4672584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133856" y="4581144"/>
            <a:ext cx="10149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1F2937"/>
                </a:solidFill>
              </a:rPr>
              <a:t>Fields combine database facts with application choices.</a:t>
            </a:r>
            <a:endParaRPr lang="en-US" sz="1380" dirty="0"/>
          </a:p>
        </p:txBody>
      </p:sp>
      <p:sp>
        <p:nvSpPr>
          <p:cNvPr id="13" name="Shape 9"/>
          <p:cNvSpPr/>
          <p:nvPr/>
        </p:nvSpPr>
        <p:spPr>
          <a:xfrm>
            <a:off x="914400" y="509320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133856" y="5001768"/>
            <a:ext cx="10149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1F2937"/>
                </a:solidFill>
              </a:rPr>
              <a:t>Schema remains authoritative for PK, FK, nullability and DB-managed timestamps.</a:t>
            </a:r>
            <a:endParaRPr lang="en-US" sz="1380" dirty="0"/>
          </a:p>
        </p:txBody>
      </p:sp>
      <p:sp>
        <p:nvSpPr>
          <p:cNvPr id="15" name="Shape 11"/>
          <p:cNvSpPr/>
          <p:nvPr/>
        </p:nvSpPr>
        <p:spPr>
          <a:xfrm>
            <a:off x="914400" y="551383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133856" y="5422392"/>
            <a:ext cx="10149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1F2937"/>
                </a:solidFill>
              </a:rPr>
              <a:t>Generation writes to staging until the developer publishes.</a:t>
            </a:r>
            <a:endParaRPr lang="en-US" sz="1380" dirty="0"/>
          </a:p>
        </p:txBody>
      </p:sp>
      <p:sp>
        <p:nvSpPr>
          <p:cNvPr id="17" name="Shape 13"/>
          <p:cNvSpPr/>
          <p:nvPr/>
        </p:nvSpPr>
        <p:spPr>
          <a:xfrm>
            <a:off x="594360" y="6473952"/>
            <a:ext cx="1100023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94360" y="65379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B7280"/>
                </a:solidFill>
              </a:rPr>
              <a:t>myCrudCI4 • Community preview • 6</a:t>
            </a:r>
            <a:endParaRPr lang="en-US" sz="7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287000" y="164592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myCrudCI4 2.9.1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0292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Relationships are first-class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3504" y="1042416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Foreign keys, contextual navigation, hasMany panels and many-to-many pivots are generated explicitly.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85800" y="1572768"/>
            <a:ext cx="3429000" cy="3776472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3000"/>
              </a:srgbClr>
            </a:outerShdw>
          </a:effectLst>
        </p:spPr>
      </p:sp>
      <p:pic>
        <p:nvPicPr>
          <p:cNvPr id="6" name="Image 0" descr="/mnt/data/Screenshot 2026-08-19 at 11-34-09 Configure film.png">    </p:cNvPr>
          <p:cNvPicPr>
            <a:picLocks noChangeAspect="1"/>
          </p:cNvPicPr>
          <p:nvPr/>
        </p:nvPicPr>
        <p:blipFill>
          <a:blip r:embed="rId1"/>
          <a:srcRect l="22000" r="39562" t="5000" b="7000"/>
          <a:stretch/>
        </p:blipFill>
        <p:spPr>
          <a:xfrm>
            <a:off x="717804" y="1604772"/>
            <a:ext cx="3364992" cy="371246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434840" y="1572768"/>
            <a:ext cx="3429000" cy="3776472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3000"/>
              </a:srgbClr>
            </a:outerShdw>
          </a:effectLst>
        </p:spPr>
      </p:sp>
      <p:pic>
        <p:nvPicPr>
          <p:cNvPr id="8" name="Image 1" descr="/mnt/data/Screenshot 2026-08-19 at 11-34-38 Configure film.png">    </p:cNvPr>
          <p:cNvPicPr>
            <a:picLocks noChangeAspect="1"/>
          </p:cNvPicPr>
          <p:nvPr/>
        </p:nvPicPr>
        <p:blipFill>
          <a:blip r:embed="rId2"/>
          <a:srcRect l="22000" r="39562" t="4000" b="8000"/>
          <a:stretch/>
        </p:blipFill>
        <p:spPr>
          <a:xfrm>
            <a:off x="4466844" y="1604772"/>
            <a:ext cx="3364992" cy="371246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183880" y="1572768"/>
            <a:ext cx="3246120" cy="3776472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3000"/>
              </a:srgbClr>
            </a:outerShdw>
          </a:effectLst>
        </p:spPr>
      </p:sp>
      <p:pic>
        <p:nvPicPr>
          <p:cNvPr id="10" name="Image 2" descr="/mnt/data/Screenshot 2026-08-19 at 11-51-03 Configure film_actor.png">    </p:cNvPr>
          <p:cNvPicPr>
            <a:picLocks noChangeAspect="1"/>
          </p:cNvPicPr>
          <p:nvPr/>
        </p:nvPicPr>
        <p:blipFill>
          <a:blip r:embed="rId3"/>
          <a:srcRect l="22000" r="41651" t="5000" b="7000"/>
          <a:stretch/>
        </p:blipFill>
        <p:spPr>
          <a:xfrm>
            <a:off x="8215884" y="1604772"/>
            <a:ext cx="3182112" cy="371246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77824" y="5504688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BelongsTo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4626864" y="550468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</a:rPr>
              <a:t>Child panels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8375904" y="5504688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</a:rPr>
              <a:t>Pivot-aware M:N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594360" y="6473952"/>
            <a:ext cx="1100023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594360" y="65379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B7280"/>
                </a:solidFill>
              </a:rPr>
              <a:t>myCrudCI4 • Community preview • 7</a:t>
            </a:r>
            <a:endParaRPr lang="en-US" sz="7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287000" y="164592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myCrudCI4 2.9.1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0292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Menus and dashboards are generated too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3504" y="1042416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generator helps structure navigation and build operational dashboards from configured CRUDs.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85800" y="1572768"/>
            <a:ext cx="5212080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3000"/>
              </a:srgbClr>
            </a:outerShdw>
          </a:effectLst>
        </p:spPr>
      </p:sp>
      <p:pic>
        <p:nvPicPr>
          <p:cNvPr id="6" name="Image 0" descr="/mnt/data/Screenshot 2026-08-19 at 12-01-22 Menu Generator.png">    </p:cNvPr>
          <p:cNvPicPr>
            <a:picLocks noChangeAspect="1"/>
          </p:cNvPicPr>
          <p:nvPr/>
        </p:nvPicPr>
        <p:blipFill>
          <a:blip r:embed="rId1"/>
          <a:srcRect l="4000" r="37483" t="0" b="12000"/>
          <a:stretch/>
        </p:blipFill>
        <p:spPr>
          <a:xfrm>
            <a:off x="717804" y="1604772"/>
            <a:ext cx="5148072" cy="37307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309360" y="1572768"/>
            <a:ext cx="5212080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3000"/>
              </a:srgbClr>
            </a:outerShdw>
          </a:effectLst>
        </p:spPr>
      </p:sp>
      <p:pic>
        <p:nvPicPr>
          <p:cNvPr id="8" name="Image 1" descr="/mnt/data/Screenshot 2026-08-19 at 12-04-18 Dashboard Builder.png">    </p:cNvPr>
          <p:cNvPicPr>
            <a:picLocks noChangeAspect="1"/>
          </p:cNvPicPr>
          <p:nvPr/>
        </p:nvPicPr>
        <p:blipFill>
          <a:blip r:embed="rId2"/>
          <a:srcRect l="5000" r="31828" t="0" b="5000"/>
          <a:stretch/>
        </p:blipFill>
        <p:spPr>
          <a:xfrm>
            <a:off x="6341364" y="1604772"/>
            <a:ext cx="5148072" cy="373075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4400" y="557784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</a:rPr>
              <a:t>Menu Builder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6537960" y="557784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59669"/>
                </a:solidFill>
              </a:rPr>
              <a:t>Dashboard Builder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914400" y="594360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Menu groups, favorites, relation hints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6537960" y="594360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KPI, aggregate, chart, recent records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594360" y="6473952"/>
            <a:ext cx="1100023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94360" y="65379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B7280"/>
                </a:solidFill>
              </a:rPr>
              <a:t>myCrudCI4 • Community preview • 8</a:t>
            </a:r>
            <a:endParaRPr lang="en-US" sz="7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287000" y="164592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myCrudCI4 2.9.1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0292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Generator-only release layout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3504" y="1042416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repository contains the tool. Your application project contains the generated code.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94767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195681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Configure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9264" y="242316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app/MyCrudConfig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889504" y="2212848"/>
            <a:ext cx="384048" cy="402336"/>
          </a:xfrm>
          <a:prstGeom prst="chevron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0" y="182880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93592" y="194767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977640" y="195681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Generate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21024" y="242316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app/Generated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541264" y="2212848"/>
            <a:ext cx="384048" cy="402336"/>
          </a:xfrm>
          <a:prstGeom prst="chevron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182880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45352" y="194767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29400" y="195681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Review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72784" y="242316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staging code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193024" y="2212848"/>
            <a:ext cx="384048" cy="402336"/>
          </a:xfrm>
          <a:prstGeom prst="chevron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78240" y="182880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97112" y="194767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281160" y="195681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Publish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924544" y="242316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app/ runtime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60120" y="4069080"/>
            <a:ext cx="4343400" cy="777240"/>
          </a:xfrm>
          <a:prstGeom prst="roundRect">
            <a:avLst>
              <a:gd name="adj" fmla="val 9412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43000" y="4315968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65F46"/>
                </a:solidFill>
              </a:rPr>
              <a:t>Stable repository: generator, Builder, commands, diagnostics and documentation.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6492240" y="4069080"/>
            <a:ext cx="4343400" cy="777240"/>
          </a:xfrm>
          <a:prstGeom prst="roundRect">
            <a:avLst>
              <a:gd name="adj" fmla="val 9412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0" y="4315968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92400E"/>
                </a:solidFill>
              </a:rPr>
              <a:t>User project: configurations, app/Generated, published CRUDs and custom extensions.</a:t>
            </a:r>
            <a:endParaRPr lang="en-US" sz="1120" dirty="0"/>
          </a:p>
        </p:txBody>
      </p:sp>
      <p:sp>
        <p:nvSpPr>
          <p:cNvPr id="28" name="Text 26"/>
          <p:cNvSpPr/>
          <p:nvPr/>
        </p:nvSpPr>
        <p:spPr>
          <a:xfrm>
            <a:off x="822960" y="565099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</a:rPr>
              <a:t>Recommended customization point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337560" y="5650992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app/Services/Extensions/&lt;Entity&gt;ServiceExtension.php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94360" y="6473952"/>
            <a:ext cx="1100023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65379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B7280"/>
                </a:solidFill>
              </a:rPr>
              <a:t>myCrudCI4 • Community preview • 9</a:t>
            </a:r>
            <a:endParaRPr lang="en-US" sz="7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287000" y="164592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myCrudCI4 2.9.1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502920"/>
            <a:ext cx="7498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Share with the CodeIgniter community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3504" y="1042416"/>
            <a:ext cx="571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Position it as a working open-source generator and invite architectural feedback.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46520" y="1508760"/>
            <a:ext cx="475488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3000"/>
              </a:srgbClr>
            </a:outerShdw>
          </a:effectLst>
        </p:spPr>
      </p:sp>
      <p:pic>
        <p:nvPicPr>
          <p:cNvPr id="6" name="Image 0" descr="/mnt/data/Screenshot 2026-08-19 at 11-30-29 Project Dashboard.png">    </p:cNvPr>
          <p:cNvPicPr>
            <a:picLocks noChangeAspect="1"/>
          </p:cNvPicPr>
          <p:nvPr/>
        </p:nvPicPr>
        <p:blipFill>
          <a:blip r:embed="rId1"/>
          <a:srcRect l="5000" r="27944" t="2000" b="20000"/>
          <a:stretch/>
        </p:blipFill>
        <p:spPr>
          <a:xfrm>
            <a:off x="6483096" y="1545336"/>
            <a:ext cx="4681728" cy="2624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1417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What to highlight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77240" y="1965960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96696" y="1874520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70" dirty="0">
                <a:solidFill>
                  <a:srgbClr val="1F2937"/>
                </a:solidFill>
              </a:rPr>
              <a:t>Built for CodeIgniter 4 projects with existing databases.</a:t>
            </a:r>
            <a:endParaRPr lang="en-US" sz="1370" dirty="0"/>
          </a:p>
        </p:txBody>
      </p:sp>
      <p:sp>
        <p:nvSpPr>
          <p:cNvPr id="10" name="Shape 7"/>
          <p:cNvSpPr/>
          <p:nvPr/>
        </p:nvSpPr>
        <p:spPr>
          <a:xfrm>
            <a:off x="777240" y="2441448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96696" y="2350008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70" dirty="0">
                <a:solidFill>
                  <a:srgbClr val="1F2937"/>
                </a:solidFill>
              </a:rPr>
              <a:t>Generated code is inspectable before publishing.</a:t>
            </a:r>
            <a:endParaRPr lang="en-US" sz="1370" dirty="0"/>
          </a:p>
        </p:txBody>
      </p:sp>
      <p:sp>
        <p:nvSpPr>
          <p:cNvPr id="12" name="Shape 9"/>
          <p:cNvSpPr/>
          <p:nvPr/>
        </p:nvSpPr>
        <p:spPr>
          <a:xfrm>
            <a:off x="777240" y="2916936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96696" y="2825496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70" dirty="0">
                <a:solidFill>
                  <a:srgbClr val="1F2937"/>
                </a:solidFill>
              </a:rPr>
              <a:t>Supports Basic, Standard and Full architectures.</a:t>
            </a:r>
            <a:endParaRPr lang="en-US" sz="1370" dirty="0"/>
          </a:p>
        </p:txBody>
      </p:sp>
      <p:sp>
        <p:nvSpPr>
          <p:cNvPr id="14" name="Shape 11"/>
          <p:cNvSpPr/>
          <p:nvPr/>
        </p:nvSpPr>
        <p:spPr>
          <a:xfrm>
            <a:off x="777240" y="3392424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96696" y="3300984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70" dirty="0">
                <a:solidFill>
                  <a:srgbClr val="1F2937"/>
                </a:solidFill>
              </a:rPr>
              <a:t>Includes Builder, Quick Global, Menu and Dashboard Builder.</a:t>
            </a:r>
            <a:endParaRPr lang="en-US" sz="1370" dirty="0"/>
          </a:p>
        </p:txBody>
      </p:sp>
      <p:sp>
        <p:nvSpPr>
          <p:cNvPr id="16" name="Shape 13"/>
          <p:cNvSpPr/>
          <p:nvPr/>
        </p:nvSpPr>
        <p:spPr>
          <a:xfrm>
            <a:off x="777240" y="3867912"/>
            <a:ext cx="109728" cy="10972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96696" y="3776472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70" dirty="0">
                <a:solidFill>
                  <a:srgbClr val="1F2937"/>
                </a:solidFill>
              </a:rPr>
              <a:t>Looking for community feedback on architecture and conventions.</a:t>
            </a:r>
            <a:endParaRPr lang="en-US" sz="1370" dirty="0"/>
          </a:p>
        </p:txBody>
      </p:sp>
      <p:sp>
        <p:nvSpPr>
          <p:cNvPr id="18" name="Shape 15"/>
          <p:cNvSpPr/>
          <p:nvPr/>
        </p:nvSpPr>
        <p:spPr>
          <a:xfrm>
            <a:off x="6446520" y="4434840"/>
            <a:ext cx="4754880" cy="841248"/>
          </a:xfrm>
          <a:prstGeom prst="roundRect">
            <a:avLst>
              <a:gd name="adj" fmla="val 8696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720840" y="47091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F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github.com/maxgamb/myCrudCI4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446520" y="544068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</a:rPr>
              <a:t>Stable: v2.9.1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94360" y="6473952"/>
            <a:ext cx="1100023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94360" y="65379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B7280"/>
                </a:solidFill>
              </a:rPr>
              <a:t>myCrudCI4 • Community preview • 10</a:t>
            </a:r>
            <a:endParaRPr lang="en-US" sz="7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myCrudCI4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myCrudCI4 2.9.1</dc:title>
  <dc:subject>myCrudCI4 2.9.1 community presentation</dc:subject>
  <dc:creator>myCrudCI4</dc:creator>
  <cp:lastModifiedBy>myCrudCI4</cp:lastModifiedBy>
  <cp:revision>1</cp:revision>
  <dcterms:created xsi:type="dcterms:W3CDTF">2026-08-19T10:08:35Z</dcterms:created>
  <dcterms:modified xsi:type="dcterms:W3CDTF">2026-08-19T10:08:35Z</dcterms:modified>
</cp:coreProperties>
</file>